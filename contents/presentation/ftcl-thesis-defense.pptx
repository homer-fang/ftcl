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FTCL：面向海洋空间计算的异构脚本系统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Tcl-style</a:t>
            </a:r>
            <a:r>
              <a:rPr/>
              <a:t> </a:t>
            </a:r>
            <a:r>
              <a:rPr/>
              <a:t>CPU/CUDA</a:t>
            </a:r>
            <a:r>
              <a:rPr/>
              <a:t> </a:t>
            </a:r>
            <a:r>
              <a:rPr/>
              <a:t>Hybrid</a:t>
            </a:r>
            <a:r>
              <a:rPr/>
              <a:t> </a:t>
            </a:r>
            <a:r>
              <a:rPr/>
              <a:t>Computational</a:t>
            </a:r>
            <a:r>
              <a:rPr/>
              <a:t> </a:t>
            </a:r>
            <a:r>
              <a:rPr/>
              <a:t>Geometry</a:t>
            </a:r>
            <a:r>
              <a:rPr/>
              <a:t> </a:t>
            </a:r>
            <a:r>
              <a:rPr/>
              <a:t>Scripting</a:t>
            </a:r>
            <a:r>
              <a:rPr/>
              <a:t> </a:t>
            </a:r>
            <a:r>
              <a:rPr/>
              <a:t>System</a:t>
            </a:r>
            <a:br/>
            <a:br/>
            <a:r>
              <a:rPr/>
              <a:t>房鸿铭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软件工程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指导教师：纪兆辉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May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研究动机：脚本表达与</a:t>
            </a:r>
            <a:r>
              <a:rPr/>
              <a:t> </a:t>
            </a:r>
            <a:r>
              <a:rPr/>
              <a:t>GPU</a:t>
            </a:r>
            <a:r>
              <a:rPr/>
              <a:t> </a:t>
            </a:r>
            <a:r>
              <a:rPr/>
              <a:t>执行之间存在断层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脚本语言易于表达算法流程，但通常难以直接组织 GPU 计算。</a:t>
            </a:r>
          </a:p>
          <a:p>
            <a:pPr lvl="1"/>
            <a:r>
              <a:rPr/>
              <a:t>CUDA 具有强大并行能力，但内存管理、指针传递和同步细节会抬高使用门槛。</a:t>
            </a:r>
          </a:p>
          <a:p>
            <a:pPr lvl="1"/>
            <a:r>
              <a:rPr/>
              <a:t>本文构建中间层：FTCL script 表达任务，UVec 管理跨设备数据，CPU/CUDA backend 执行计算。</a:t>
            </a:r>
          </a:p>
          <a:p>
            <a:pPr lvl="1"/>
            <a:r>
              <a:rPr b="1"/>
              <a:t>Core idea:</a:t>
            </a:r>
            <a:r>
              <a:rPr/>
              <a:t> scripts express intent, UVec preserves data residency, backends provide execution power.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研究对象：FTCL</a:t>
            </a:r>
            <a:r>
              <a:rPr/>
              <a:t> </a:t>
            </a:r>
            <a:r>
              <a:rPr/>
              <a:t>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FTCL 是一个 Tcl-style scripting interpreter，以 C++20 实现。</a:t>
            </a:r>
          </a:p>
          <a:p>
            <a:pPr lvl="1"/>
            <a:r>
              <a:rPr/>
              <a:t>支持 variables、procedures、scopes、lists、dictionaries、arrays、expressions、command substitution 和 thread channels。</a:t>
            </a:r>
          </a:p>
          <a:p>
            <a:pPr lvl="1"/>
            <a:r>
              <a:rPr/>
              <a:t>在语言层之上扩展 </a:t>
            </a:r>
            <a:r>
              <a:rPr>
                <a:latin typeface="Courier"/>
              </a:rPr>
              <a:t>geom</a:t>
            </a:r>
            <a:r>
              <a:rPr/>
              <a:t> command library，使脚本可以调用计算几何算法。</a:t>
            </a:r>
          </a:p>
          <a:p>
            <a:pPr lvl="1"/>
            <a:r>
              <a:rPr/>
              <a:t>通过 UVec 将脚本层数据映射到 CPU 和 CUDA device buffers。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Research</a:t>
            </a:r>
            <a:r>
              <a:rPr/>
              <a:t> </a:t>
            </a: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RQ1 Correctness:</a:t>
            </a:r>
            <a:r>
              <a:rPr/>
              <a:t> FTCL 的 Tcl subset、expression parser 和 command semantics 是否稳定？</a:t>
            </a:r>
          </a:p>
          <a:p>
            <a:pPr lvl="1"/>
            <a:r>
              <a:rPr b="1"/>
              <a:t>RQ2 Cross-device consistency:</a:t>
            </a:r>
            <a:r>
              <a:rPr/>
              <a:t> CPU backend 与 CUDA backend 是否能返回等价 geometry results？</a:t>
            </a:r>
          </a:p>
          <a:p>
            <a:pPr lvl="1"/>
            <a:r>
              <a:rPr b="1"/>
              <a:t>RQ3 Performance:</a:t>
            </a:r>
            <a:r>
              <a:rPr/>
              <a:t> CUDA 何时带来 end-to-end speedup？</a:t>
            </a:r>
          </a:p>
          <a:p>
            <a:pPr lvl="1"/>
            <a:r>
              <a:rPr b="1"/>
              <a:t>RQ4 Scalability:</a:t>
            </a:r>
            <a:r>
              <a:rPr/>
              <a:t> 多张 A800 GPU 能否通过 FTCL script 暴露 weak-scaling 能力？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主要贡献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设计并实现可扩展的 Tcl-style interpreter，支持并发与测试命令。</a:t>
            </a:r>
          </a:p>
          <a:p>
            <a:pPr lvl="1"/>
            <a:r>
              <a:rPr/>
              <a:t>提出 UVec cross-device vector abstraction，自动维护 CPU/CUDA copy validity。</a:t>
            </a:r>
          </a:p>
          <a:p>
            <a:pPr lvl="1"/>
            <a:r>
              <a:rPr/>
              <a:t>实现 geometry command library，覆盖 scalar algorithms 与 batch algorithms。</a:t>
            </a:r>
          </a:p>
          <a:p>
            <a:pPr lvl="1"/>
            <a:r>
              <a:rPr/>
              <a:t>构建 CPU/GPU equivalence、random differential、edge-case、stress 和 benchmark tests。</a:t>
            </a:r>
          </a:p>
          <a:p>
            <a:pPr lvl="1"/>
            <a:r>
              <a:rPr/>
              <a:t>在 8×A800 server 上完成 single-GPU 与 multi-GPU evaluation。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系统总体架构：表达、数据和执行解耦</a:t>
            </a:r>
          </a:p>
        </p:txBody>
      </p:sp>
      <p:pic>
        <p:nvPicPr>
          <p:cNvPr descr="../figures/system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Interpreter</a:t>
            </a:r>
            <a:r>
              <a:rPr/>
              <a:t> </a:t>
            </a:r>
            <a:r>
              <a:rPr/>
              <a:t>Pipeline：从</a:t>
            </a:r>
            <a:r>
              <a:rPr/>
              <a:t> </a:t>
            </a:r>
            <a:r>
              <a:rPr/>
              <a:t>script</a:t>
            </a:r>
            <a:r>
              <a:rPr/>
              <a:t> </a:t>
            </a:r>
            <a:r>
              <a:rPr/>
              <a:t>到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Lexer 将 source string 转换为 token stream，保留 command boundary、brace、bracket、quote 和 comment。</a:t>
            </a:r>
          </a:p>
          <a:p>
            <a:pPr lvl="1"/>
            <a:r>
              <a:rPr/>
              <a:t>Parser 将 tokens 组织为 Script、Command 和 Word。</a:t>
            </a:r>
          </a:p>
          <a:p>
            <a:pPr lvl="1"/>
            <a:r>
              <a:rPr/>
              <a:t>Interpreter 对 Word 执行 variable substitution、command substitution、array lookup 和 string concatenation。</a:t>
            </a:r>
          </a:p>
          <a:p>
            <a:pPr lvl="1"/>
            <a:r>
              <a:rPr/>
              <a:t>Command dispatcher 将第一个 value 作为 command name，调用 native C++ command function。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UVec：让</a:t>
            </a:r>
            <a:r>
              <a:rPr/>
              <a:t> </a:t>
            </a:r>
            <a:r>
              <a:rPr/>
              <a:t>CPU/CUDA</a:t>
            </a:r>
            <a:r>
              <a:rPr/>
              <a:t> </a:t>
            </a:r>
            <a:r>
              <a:rPr/>
              <a:t>数据同步成为系统责任</a:t>
            </a:r>
          </a:p>
        </p:txBody>
      </p:sp>
      <p:pic>
        <p:nvPicPr>
          <p:cNvPr descr="../figures/uvec-syn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UVec</a:t>
            </a:r>
            <a:r>
              <a:rPr/>
              <a:t> </a:t>
            </a:r>
            <a:r>
              <a:rPr/>
              <a:t>State</a:t>
            </a:r>
            <a:r>
              <a:rPr/>
              <a:t> </a:t>
            </a:r>
            <a:r>
              <a:rPr/>
              <a:t>Machine：valid</a:t>
            </a:r>
            <a:r>
              <a:rPr/>
              <a:t> </a:t>
            </a:r>
            <a:r>
              <a:rPr/>
              <a:t>flag</a:t>
            </a:r>
            <a:r>
              <a:rPr/>
              <a:t> </a:t>
            </a:r>
            <a:r>
              <a:rPr/>
              <a:t>驱动自动同步</a:t>
            </a:r>
          </a:p>
        </p:txBody>
      </p:sp>
      <p:pic>
        <p:nvPicPr>
          <p:cNvPr descr="../figures/uvec-st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600200"/>
            <a:ext cx="7620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geom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Flow：脚本命令如何进入</a:t>
            </a:r>
            <a:r>
              <a:rPr/>
              <a:t> </a:t>
            </a:r>
            <a:r>
              <a:rPr/>
              <a:t>backend</a:t>
            </a:r>
          </a:p>
        </p:txBody>
      </p:sp>
      <p:pic>
        <p:nvPicPr>
          <p:cNvPr descr="../figures/geom-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3300" y="1600200"/>
            <a:ext cx="7137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Geometry</a:t>
            </a:r>
            <a:r>
              <a:rPr/>
              <a:t> </a:t>
            </a:r>
            <a:r>
              <a:rPr/>
              <a:t>Algorithm</a:t>
            </a:r>
            <a:r>
              <a:rPr/>
              <a:t> </a:t>
            </a:r>
            <a:r>
              <a:rPr/>
              <a:t>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Scalar algorithms：distance、orientation、segment intersection、polygon area、point-in-polygon、convex hull。</a:t>
            </a:r>
          </a:p>
          <a:p>
            <a:pPr lvl="1"/>
            <a:r>
              <a:rPr/>
              <a:t>Batch algorithms：distance matrix、nearest point、circle range count、AABB collision、transform points、bbox reduce、centroid。</a:t>
            </a:r>
          </a:p>
          <a:p>
            <a:pPr lvl="1"/>
            <a:r>
              <a:rPr/>
              <a:t>GPU-friendly workloads 具有大量 independent work items。</a:t>
            </a:r>
          </a:p>
          <a:p>
            <a:pPr lvl="1"/>
            <a:r>
              <a:rPr/>
              <a:t>Convex hull 等含排序或栈式结构的算法保留为 CPU-first path。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Correctness</a:t>
            </a:r>
            <a:r>
              <a:rPr/>
              <a:t> </a:t>
            </a:r>
            <a:r>
              <a:rPr/>
              <a:t>Validation：先正确，再谈加速</a:t>
            </a:r>
          </a:p>
        </p:txBody>
      </p:sp>
      <p:pic>
        <p:nvPicPr>
          <p:cNvPr descr="../figures/semantic-pass-r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26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CPU/GPU</a:t>
            </a:r>
            <a:r>
              <a:rPr/>
              <a:t> </a:t>
            </a:r>
            <a:r>
              <a:rPr/>
              <a:t>Numerical</a:t>
            </a:r>
            <a:r>
              <a:rPr/>
              <a:t> </a:t>
            </a:r>
            <a:r>
              <a:rPr/>
              <a:t>Equivalence：CUDA</a:t>
            </a:r>
            <a:r>
              <a:rPr/>
              <a:t> </a:t>
            </a:r>
            <a:r>
              <a:rPr/>
              <a:t>结果接近</a:t>
            </a:r>
            <a:r>
              <a:rPr/>
              <a:t> </a:t>
            </a:r>
            <a:r>
              <a:rPr/>
              <a:t>CPU</a:t>
            </a:r>
            <a:r>
              <a:rPr/>
              <a:t> </a:t>
            </a:r>
            <a:r>
              <a:rPr/>
              <a:t>reference</a:t>
            </a:r>
          </a:p>
        </p:txBody>
      </p:sp>
      <p:pic>
        <p:nvPicPr>
          <p:cNvPr descr="../figures/geometry-error-distrib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26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Single-GPU</a:t>
            </a:r>
            <a:r>
              <a:rPr/>
              <a:t> </a:t>
            </a:r>
            <a:r>
              <a:rPr/>
              <a:t>Performance</a:t>
            </a:r>
            <a:r>
              <a:rPr/>
              <a:t> </a:t>
            </a:r>
            <a:r>
              <a:rPr/>
              <a:t>Scaling：work</a:t>
            </a:r>
            <a:r>
              <a:rPr/>
              <a:t> </a:t>
            </a:r>
            <a:r>
              <a:rPr/>
              <a:t>items</a:t>
            </a:r>
            <a:r>
              <a:rPr/>
              <a:t> </a:t>
            </a:r>
            <a:r>
              <a:rPr/>
              <a:t>足够多时</a:t>
            </a:r>
            <a:r>
              <a:rPr/>
              <a:t> </a:t>
            </a:r>
            <a:r>
              <a:rPr/>
              <a:t>CUDA</a:t>
            </a:r>
            <a:r>
              <a:rPr/>
              <a:t> </a:t>
            </a:r>
            <a:r>
              <a:rPr/>
              <a:t>获益明显</a:t>
            </a:r>
          </a:p>
        </p:txBody>
      </p:sp>
      <p:pic>
        <p:nvPicPr>
          <p:cNvPr descr="../figures/geometry-speed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600200"/>
            <a:ext cx="7759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Throughput：UVec</a:t>
            </a:r>
            <a:r>
              <a:rPr/>
              <a:t> </a:t>
            </a:r>
            <a:r>
              <a:rPr/>
              <a:t>handles</a:t>
            </a:r>
            <a:r>
              <a:rPr/>
              <a:t> </a:t>
            </a:r>
            <a:r>
              <a:rPr/>
              <a:t>支撑高吞吐脚本流水线</a:t>
            </a:r>
          </a:p>
        </p:txBody>
      </p:sp>
      <p:pic>
        <p:nvPicPr>
          <p:cNvPr descr="../figures/geometry-throughp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600200"/>
            <a:ext cx="7759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Multi-GPU</a:t>
            </a:r>
            <a:r>
              <a:rPr/>
              <a:t> </a:t>
            </a:r>
            <a:r>
              <a:rPr/>
              <a:t>Scaling：8×A800</a:t>
            </a:r>
            <a:r>
              <a:rPr/>
              <a:t> </a:t>
            </a:r>
            <a:r>
              <a:rPr/>
              <a:t>下的</a:t>
            </a:r>
            <a:r>
              <a:rPr/>
              <a:t> </a:t>
            </a:r>
            <a:r>
              <a:rPr/>
              <a:t>weak-scaling</a:t>
            </a:r>
            <a:r>
              <a:rPr/>
              <a:t> </a:t>
            </a:r>
            <a:r>
              <a:rPr/>
              <a:t>验证</a:t>
            </a:r>
          </a:p>
        </p:txBody>
      </p:sp>
      <p:pic>
        <p:nvPicPr>
          <p:cNvPr descr="../figures/geometry-multi-gpu-scal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600200"/>
            <a:ext cx="7620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Break-even</a:t>
            </a:r>
            <a:r>
              <a:rPr/>
              <a:t> </a:t>
            </a:r>
            <a:r>
              <a:rPr/>
              <a:t>Point：CUDA</a:t>
            </a:r>
            <a:r>
              <a:rPr/>
              <a:t> </a:t>
            </a:r>
            <a:r>
              <a:rPr/>
              <a:t>不是天然更快</a:t>
            </a:r>
          </a:p>
        </p:txBody>
      </p:sp>
      <p:pic>
        <p:nvPicPr>
          <p:cNvPr descr="../figures/geometry-break-ev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600200"/>
            <a:ext cx="7620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Concurrency：多</a:t>
            </a:r>
            <a:r>
              <a:rPr/>
              <a:t> </a:t>
            </a:r>
            <a:r>
              <a:rPr/>
              <a:t>worker</a:t>
            </a:r>
            <a:r>
              <a:rPr/>
              <a:t> </a:t>
            </a:r>
            <a:r>
              <a:rPr/>
              <a:t>提升吞吐，也带来资源竞争</a:t>
            </a:r>
          </a:p>
        </p:txBody>
      </p:sp>
      <p:pic>
        <p:nvPicPr>
          <p:cNvPr descr="../figures/geometry-concurrency-throughp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600200"/>
            <a:ext cx="7620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Ocean-oriented</a:t>
            </a:r>
            <a:r>
              <a:rPr/>
              <a:t> </a:t>
            </a:r>
            <a:r>
              <a:rPr/>
              <a:t>Spatial</a:t>
            </a:r>
            <a:r>
              <a:rPr/>
              <a:t> </a:t>
            </a:r>
            <a:r>
              <a:rPr/>
              <a:t>Computing</a:t>
            </a:r>
            <a:r>
              <a:rPr/>
              <a:t> </a:t>
            </a:r>
            <a:r>
              <a:rPr/>
              <a:t>Demo</a:t>
            </a:r>
          </a:p>
        </p:txBody>
      </p:sp>
      <p:pic>
        <p:nvPicPr>
          <p:cNvPr descr="../figures/geometry-real-dem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92200" y="1600200"/>
            <a:ext cx="6959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为什么这不是普通几何库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普通 geometry library 提供 C++ function call。</a:t>
            </a:r>
          </a:p>
          <a:p>
            <a:pPr lvl="1"/>
            <a:r>
              <a:rPr/>
              <a:t>FTCL 提供 script-level orchestration：可以组合算法、并发运行、记录实验、复现实验。</a:t>
            </a:r>
          </a:p>
          <a:p>
            <a:pPr lvl="1"/>
            <a:r>
              <a:rPr/>
              <a:t>UVec 提供 data residency：中间结果可以停留在 CPU 或 CUDA，不必每一步转回字符串。</a:t>
            </a:r>
          </a:p>
          <a:p>
            <a:pPr lvl="1"/>
            <a:r>
              <a:rPr/>
              <a:t>Benchmark pipeline 将 correctness、performance 和 reproducibility 连接起来。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局限性与未来工作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CPU baseline 仍是 scalar backend，未来需要 all-core CPU implementation。</a:t>
            </a:r>
          </a:p>
          <a:p>
            <a:pPr lvl="1"/>
            <a:r>
              <a:rPr/>
              <a:t>CUDA backend 需要 memory pools、asynchronous streams 和 persistent output buffers。</a:t>
            </a:r>
          </a:p>
          <a:p>
            <a:pPr lvl="1"/>
            <a:r>
              <a:rPr/>
              <a:t>Parser path 可继续向 token-stream parser、AST、bytecode 和 Pratt parser 演进。</a:t>
            </a:r>
          </a:p>
          <a:p>
            <a:pPr lvl="1"/>
            <a:r>
              <a:rPr/>
              <a:t>Geometry library 可增加 spatial index、polygon boolean operations 和 dynamic nearest-neighbor search。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FTCL 把脚本表达、跨设备内存、并发执行和几何计算放进了同一个系统。</a:t>
            </a:r>
          </a:p>
          <a:p>
            <a:pPr lvl="1"/>
            <a:r>
              <a:rPr/>
              <a:t>UVec 让 CPU/CUDA memory movement 变成系统责任，而不是用户负担。</a:t>
            </a:r>
          </a:p>
          <a:p>
            <a:pPr lvl="1"/>
            <a:r>
              <a:rPr/>
              <a:t>GPU acceleration 的关键不是“用了 CUDA”，而是 work-item scale、data residency、output size 和 synchronization cost 的平衡。</a:t>
            </a:r>
          </a:p>
          <a:p>
            <a:pPr lvl="1"/>
            <a:r>
              <a:rPr b="1"/>
              <a:t>Final message:</a:t>
            </a:r>
            <a:r>
              <a:rPr/>
              <a:t> FTCL is a prototype heterogeneous spatial-computing runtime.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FTCL：面向海洋空间计算的异构脚本系统</dc:title>
  <dc:creator>房鸿铭 · 软件工程 · 指导教师：纪兆辉</dc:creator>
  <cp:keywords/>
  <dcterms:created xsi:type="dcterms:W3CDTF">2026-05-28T01:09:37Z</dcterms:created>
  <dcterms:modified xsi:type="dcterms:W3CDTF">2026-05-28T01:09:37Z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subtitle">
    <vt:lpwstr>Tcl-style CPU/CUDA Hybrid Computational Geometry Scripting System</vt:lpwstr>
  </property>
</Properties>
</file>